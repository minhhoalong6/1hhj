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Noto Sans" charset="1" panose="020B0502040504020204"/>
      <p:regular r:id="rId13"/>
    </p:embeddedFont>
    <p:embeddedFont>
      <p:font typeface="Dancing Script Bold" charset="1" panose="03080800040507000D00"/>
      <p:regular r:id="rId14"/>
    </p:embeddedFont>
    <p:embeddedFont>
      <p:font typeface="Sedgwick Ave" charset="1" panose="00000500000000000000"/>
      <p:regular r:id="rId15"/>
    </p:embeddedFont>
    <p:embeddedFont>
      <p:font typeface="Dancing Script" charset="1" panose="03080600040507000D00"/>
      <p:regular r:id="rId16"/>
    </p:embeddedFont>
    <p:embeddedFont>
      <p:font typeface="Noto Sans Bold" charset="1" panose="020B0802040504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860721" y="4879386"/>
            <a:ext cx="9427279" cy="5407614"/>
          </a:xfrm>
          <a:custGeom>
            <a:avLst/>
            <a:gdLst/>
            <a:ahLst/>
            <a:cxnLst/>
            <a:rect r="r" b="b" t="t" l="l"/>
            <a:pathLst>
              <a:path h="5407614" w="9427279">
                <a:moveTo>
                  <a:pt x="0" y="0"/>
                </a:moveTo>
                <a:lnTo>
                  <a:pt x="9427279" y="0"/>
                </a:lnTo>
                <a:lnTo>
                  <a:pt x="9427279" y="5407614"/>
                </a:lnTo>
                <a:lnTo>
                  <a:pt x="0" y="5407614"/>
                </a:lnTo>
                <a:lnTo>
                  <a:pt x="0" y="0"/>
                </a:lnTo>
                <a:close/>
              </a:path>
            </a:pathLst>
          </a:custGeom>
          <a:blipFill>
            <a:blip r:embed="rId2"/>
            <a:stretch>
              <a:fillRect l="0" t="-15200" r="0" b="-15200"/>
            </a:stretch>
          </a:blipFill>
        </p:spPr>
      </p:sp>
      <p:sp>
        <p:nvSpPr>
          <p:cNvPr name="Freeform 3" id="3"/>
          <p:cNvSpPr/>
          <p:nvPr/>
        </p:nvSpPr>
        <p:spPr>
          <a:xfrm flipH="false" flipV="false" rot="0">
            <a:off x="0" y="4879386"/>
            <a:ext cx="8860721" cy="5407614"/>
          </a:xfrm>
          <a:custGeom>
            <a:avLst/>
            <a:gdLst/>
            <a:ahLst/>
            <a:cxnLst/>
            <a:rect r="r" b="b" t="t" l="l"/>
            <a:pathLst>
              <a:path h="5407614" w="8860721">
                <a:moveTo>
                  <a:pt x="0" y="0"/>
                </a:moveTo>
                <a:lnTo>
                  <a:pt x="8860721" y="0"/>
                </a:lnTo>
                <a:lnTo>
                  <a:pt x="8860721" y="5407614"/>
                </a:lnTo>
                <a:lnTo>
                  <a:pt x="0" y="5407614"/>
                </a:lnTo>
                <a:lnTo>
                  <a:pt x="0" y="0"/>
                </a:lnTo>
                <a:close/>
              </a:path>
            </a:pathLst>
          </a:custGeom>
          <a:blipFill>
            <a:blip r:embed="rId3"/>
            <a:stretch>
              <a:fillRect l="-3255" t="-4577" r="0" b="-4577"/>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ans"/>
                <a:ea typeface="Noto Sans"/>
                <a:cs typeface="Noto Sans"/>
                <a:sym typeface="Noto Sans"/>
              </a:rPr>
              <a:t>1</a:t>
            </a:r>
          </a:p>
        </p:txBody>
      </p:sp>
      <p:sp>
        <p:nvSpPr>
          <p:cNvPr name="TextBox 5" id="5"/>
          <p:cNvSpPr txBox="true"/>
          <p:nvPr/>
        </p:nvSpPr>
        <p:spPr>
          <a:xfrm rot="0">
            <a:off x="9139238" y="4819967"/>
            <a:ext cx="9525" cy="580390"/>
          </a:xfrm>
          <a:prstGeom prst="rect">
            <a:avLst/>
          </a:prstGeom>
        </p:spPr>
        <p:txBody>
          <a:bodyPr anchor="t" rtlCol="false" tIns="0" lIns="0" bIns="0" rIns="0">
            <a:spAutoFit/>
          </a:bodyPr>
          <a:lstStyle/>
          <a:p>
            <a:pPr algn="ctr">
              <a:lnSpc>
                <a:spcPts val="4759"/>
              </a:lnSpc>
            </a:pPr>
          </a:p>
        </p:txBody>
      </p:sp>
      <p:sp>
        <p:nvSpPr>
          <p:cNvPr name="TextBox 6" id="6"/>
          <p:cNvSpPr txBox="true"/>
          <p:nvPr/>
        </p:nvSpPr>
        <p:spPr>
          <a:xfrm rot="0">
            <a:off x="270280" y="191975"/>
            <a:ext cx="5371654" cy="1501999"/>
          </a:xfrm>
          <a:prstGeom prst="rect">
            <a:avLst/>
          </a:prstGeom>
        </p:spPr>
        <p:txBody>
          <a:bodyPr anchor="t" rtlCol="false" tIns="0" lIns="0" bIns="0" rIns="0">
            <a:spAutoFit/>
          </a:bodyPr>
          <a:lstStyle/>
          <a:p>
            <a:pPr algn="ctr">
              <a:lnSpc>
                <a:spcPts val="12237"/>
              </a:lnSpc>
            </a:pPr>
            <a:r>
              <a:rPr lang="en-US" sz="8741" b="true">
                <a:solidFill>
                  <a:srgbClr val="FF3131"/>
                </a:solidFill>
                <a:latin typeface="Dancing Script Bold"/>
                <a:ea typeface="Dancing Script Bold"/>
                <a:cs typeface="Dancing Script Bold"/>
                <a:sym typeface="Dancing Script Bold"/>
              </a:rPr>
              <a:t>Thuyết trình</a:t>
            </a:r>
            <a:r>
              <a:rPr lang="en-US" sz="8741" b="true">
                <a:solidFill>
                  <a:srgbClr val="000000"/>
                </a:solidFill>
                <a:latin typeface="Dancing Script Bold"/>
                <a:ea typeface="Dancing Script Bold"/>
                <a:cs typeface="Dancing Script Bold"/>
                <a:sym typeface="Dancing Script Bold"/>
              </a:rPr>
              <a:t> </a:t>
            </a:r>
          </a:p>
        </p:txBody>
      </p:sp>
      <p:sp>
        <p:nvSpPr>
          <p:cNvPr name="TextBox 7" id="7"/>
          <p:cNvSpPr txBox="true"/>
          <p:nvPr/>
        </p:nvSpPr>
        <p:spPr>
          <a:xfrm rot="0">
            <a:off x="12744381" y="1275562"/>
            <a:ext cx="5372074" cy="3195319"/>
          </a:xfrm>
          <a:prstGeom prst="rect">
            <a:avLst/>
          </a:prstGeom>
        </p:spPr>
        <p:txBody>
          <a:bodyPr anchor="t" rtlCol="false" tIns="0" lIns="0" bIns="0" rIns="0">
            <a:spAutoFit/>
          </a:bodyPr>
          <a:lstStyle/>
          <a:p>
            <a:pPr algn="ctr">
              <a:lnSpc>
                <a:spcPts val="12880"/>
              </a:lnSpc>
            </a:pPr>
            <a:r>
              <a:rPr lang="en-US" sz="9200">
                <a:solidFill>
                  <a:srgbClr val="5E17EB"/>
                </a:solidFill>
                <a:latin typeface="Sedgwick Ave"/>
                <a:ea typeface="Sedgwick Ave"/>
                <a:cs typeface="Sedgwick Ave"/>
                <a:sym typeface="Sedgwick Ave"/>
              </a:rPr>
              <a:t>Chùa một cột</a:t>
            </a:r>
          </a:p>
        </p:txBody>
      </p:sp>
      <p:sp>
        <p:nvSpPr>
          <p:cNvPr name="TextBox 8" id="8"/>
          <p:cNvSpPr txBox="true"/>
          <p:nvPr/>
        </p:nvSpPr>
        <p:spPr>
          <a:xfrm rot="0">
            <a:off x="4430361" y="1766940"/>
            <a:ext cx="7304589" cy="1192007"/>
          </a:xfrm>
          <a:prstGeom prst="rect">
            <a:avLst/>
          </a:prstGeom>
        </p:spPr>
        <p:txBody>
          <a:bodyPr anchor="t" rtlCol="false" tIns="0" lIns="0" bIns="0" rIns="0">
            <a:spAutoFit/>
          </a:bodyPr>
          <a:lstStyle/>
          <a:p>
            <a:pPr algn="ctr">
              <a:lnSpc>
                <a:spcPts val="9898"/>
              </a:lnSpc>
            </a:pPr>
            <a:r>
              <a:rPr lang="en-US" sz="7070">
                <a:solidFill>
                  <a:srgbClr val="FF751F"/>
                </a:solidFill>
                <a:latin typeface="Sedgwick Ave"/>
                <a:ea typeface="Sedgwick Ave"/>
                <a:cs typeface="Sedgwick Ave"/>
                <a:sym typeface="Sedgwick Ave"/>
              </a:rPr>
              <a:t>về</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6806279" cy="5094397"/>
          </a:xfrm>
          <a:custGeom>
            <a:avLst/>
            <a:gdLst/>
            <a:ahLst/>
            <a:cxnLst/>
            <a:rect r="r" b="b" t="t" l="l"/>
            <a:pathLst>
              <a:path h="5094397" w="6806279">
                <a:moveTo>
                  <a:pt x="0" y="0"/>
                </a:moveTo>
                <a:lnTo>
                  <a:pt x="6806279" y="0"/>
                </a:lnTo>
                <a:lnTo>
                  <a:pt x="6806279" y="5094397"/>
                </a:lnTo>
                <a:lnTo>
                  <a:pt x="0" y="5094397"/>
                </a:lnTo>
                <a:lnTo>
                  <a:pt x="0" y="0"/>
                </a:lnTo>
                <a:close/>
              </a:path>
            </a:pathLst>
          </a:custGeom>
          <a:blipFill>
            <a:blip r:embed="rId2"/>
            <a:stretch>
              <a:fillRect l="0" t="0" r="0" b="0"/>
            </a:stretch>
          </a:blipFill>
        </p:spPr>
      </p:sp>
      <p:sp>
        <p:nvSpPr>
          <p:cNvPr name="TextBox 3" id="3"/>
          <p:cNvSpPr txBox="true"/>
          <p:nvPr/>
        </p:nvSpPr>
        <p:spPr>
          <a:xfrm rot="0">
            <a:off x="1586039" y="141605"/>
            <a:ext cx="9866199" cy="887095"/>
          </a:xfrm>
          <a:prstGeom prst="rect">
            <a:avLst/>
          </a:prstGeom>
        </p:spPr>
        <p:txBody>
          <a:bodyPr anchor="t" rtlCol="false" tIns="0" lIns="0" bIns="0" rIns="0">
            <a:spAutoFit/>
          </a:bodyPr>
          <a:lstStyle/>
          <a:p>
            <a:pPr algn="ctr">
              <a:lnSpc>
                <a:spcPts val="7279"/>
              </a:lnSpc>
            </a:pPr>
          </a:p>
        </p:txBody>
      </p:sp>
      <p:sp>
        <p:nvSpPr>
          <p:cNvPr name="TextBox 4" id="4"/>
          <p:cNvSpPr txBox="true"/>
          <p:nvPr/>
        </p:nvSpPr>
        <p:spPr>
          <a:xfrm rot="0">
            <a:off x="0" y="6027847"/>
            <a:ext cx="6806279" cy="887095"/>
          </a:xfrm>
          <a:prstGeom prst="rect">
            <a:avLst/>
          </a:prstGeom>
        </p:spPr>
        <p:txBody>
          <a:bodyPr anchor="t" rtlCol="false" tIns="0" lIns="0" bIns="0" rIns="0">
            <a:spAutoFit/>
          </a:bodyPr>
          <a:lstStyle/>
          <a:p>
            <a:pPr algn="ctr">
              <a:lnSpc>
                <a:spcPts val="7279"/>
              </a:lnSpc>
            </a:pPr>
          </a:p>
        </p:txBody>
      </p:sp>
      <p:sp>
        <p:nvSpPr>
          <p:cNvPr name="TextBox 5" id="5"/>
          <p:cNvSpPr txBox="true"/>
          <p:nvPr/>
        </p:nvSpPr>
        <p:spPr>
          <a:xfrm rot="0">
            <a:off x="12942681" y="3698395"/>
            <a:ext cx="3429373" cy="1257276"/>
          </a:xfrm>
          <a:prstGeom prst="rect">
            <a:avLst/>
          </a:prstGeom>
        </p:spPr>
        <p:txBody>
          <a:bodyPr anchor="t" rtlCol="false" tIns="0" lIns="0" bIns="0" rIns="0">
            <a:spAutoFit/>
          </a:bodyPr>
          <a:lstStyle/>
          <a:p>
            <a:pPr algn="ctr">
              <a:lnSpc>
                <a:spcPts val="10245"/>
              </a:lnSpc>
            </a:pPr>
            <a:r>
              <a:rPr lang="en-US" sz="7318">
                <a:solidFill>
                  <a:srgbClr val="000000"/>
                </a:solidFill>
                <a:latin typeface="Sedgwick Ave"/>
                <a:ea typeface="Sedgwick Ave"/>
                <a:cs typeface="Sedgwick Ave"/>
                <a:sym typeface="Sedgwick Ave"/>
              </a:rPr>
              <a:t>Mái chùa</a:t>
            </a:r>
          </a:p>
        </p:txBody>
      </p:sp>
      <p:sp>
        <p:nvSpPr>
          <p:cNvPr name="TextBox 6" id="6"/>
          <p:cNvSpPr txBox="true"/>
          <p:nvPr/>
        </p:nvSpPr>
        <p:spPr>
          <a:xfrm rot="0">
            <a:off x="7212876" y="1576870"/>
            <a:ext cx="8774504" cy="1400517"/>
          </a:xfrm>
          <a:prstGeom prst="rect">
            <a:avLst/>
          </a:prstGeom>
        </p:spPr>
        <p:txBody>
          <a:bodyPr anchor="t" rtlCol="false" tIns="0" lIns="0" bIns="0" rIns="0">
            <a:spAutoFit/>
          </a:bodyPr>
          <a:lstStyle/>
          <a:p>
            <a:pPr algn="ctr">
              <a:lnSpc>
                <a:spcPts val="11454"/>
              </a:lnSpc>
            </a:pPr>
            <a:r>
              <a:rPr lang="en-US" sz="8182">
                <a:solidFill>
                  <a:srgbClr val="000000"/>
                </a:solidFill>
                <a:latin typeface="Dancing Script"/>
                <a:ea typeface="Dancing Script"/>
                <a:cs typeface="Dancing Script"/>
                <a:sym typeface="Dancing Script"/>
              </a:rPr>
              <a:t>kiến</a:t>
            </a:r>
            <a:r>
              <a:rPr lang="en-US" sz="8182">
                <a:solidFill>
                  <a:srgbClr val="000000"/>
                </a:solidFill>
                <a:latin typeface="Dancing Script"/>
                <a:ea typeface="Dancing Script"/>
                <a:cs typeface="Dancing Script"/>
                <a:sym typeface="Dancing Script"/>
              </a:rPr>
              <a:t> trúc độc đáo</a:t>
            </a:r>
          </a:p>
        </p:txBody>
      </p:sp>
      <p:sp>
        <p:nvSpPr>
          <p:cNvPr name="TextBox 7" id="7"/>
          <p:cNvSpPr txBox="true"/>
          <p:nvPr/>
        </p:nvSpPr>
        <p:spPr>
          <a:xfrm rot="0">
            <a:off x="5788442" y="7591217"/>
            <a:ext cx="12499558" cy="3003261"/>
          </a:xfrm>
          <a:prstGeom prst="rect">
            <a:avLst/>
          </a:prstGeom>
        </p:spPr>
        <p:txBody>
          <a:bodyPr anchor="t" rtlCol="false" tIns="0" lIns="0" bIns="0" rIns="0">
            <a:spAutoFit/>
          </a:bodyPr>
          <a:lstStyle/>
          <a:p>
            <a:pPr algn="ctr" marL="529051" indent="-264526" lvl="1">
              <a:lnSpc>
                <a:spcPts val="3430"/>
              </a:lnSpc>
              <a:buFont typeface="Arial"/>
              <a:buChar char="•"/>
            </a:pPr>
            <a:r>
              <a:rPr lang="en-US" sz="2450">
                <a:solidFill>
                  <a:srgbClr val="000000"/>
                </a:solidFill>
                <a:latin typeface="Noto Sans"/>
                <a:ea typeface="Noto Sans"/>
                <a:cs typeface="Noto Sans"/>
                <a:sym typeface="Noto Sans"/>
              </a:rPr>
              <a:t>Mái chùa được lợp bằng ngói màu đỏ gạch đã rêu phong theo thời gian tạo nên nét cổ kính của ngôi chùa. Mỗi viên ngói đều thể hiện sự kỳ công, tỉ mỉ của người thợ. </a:t>
            </a:r>
            <a:r>
              <a:rPr lang="en-US" sz="2450">
                <a:solidFill>
                  <a:srgbClr val="000000"/>
                </a:solidFill>
                <a:latin typeface="Noto Sans"/>
                <a:ea typeface="Noto Sans"/>
                <a:cs typeface="Noto Sans"/>
                <a:sym typeface="Noto Sans"/>
              </a:rPr>
              <a:t>Trên đỉnh mái chùa là hình “lưỡng long chầu mặt nguyệt" - nét kiến trúc đặc trưng của các ngôi đình, chùa, miếu. Nét kiến trúc này là biểu trưng của sự sinh sôi nảy nở, âm dương hòa hợp. Đây là hình ảnh đặc trưng mang đậm tính nhân văn trong lối kiến trúc nghệ thuật tâm linh của dân tộc Việt Nam. </a:t>
            </a:r>
          </a:p>
          <a:p>
            <a:pPr algn="ctr">
              <a:lnSpc>
                <a:spcPts val="343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322799" cy="5538444"/>
          </a:xfrm>
          <a:custGeom>
            <a:avLst/>
            <a:gdLst/>
            <a:ahLst/>
            <a:cxnLst/>
            <a:rect r="r" b="b" t="t" l="l"/>
            <a:pathLst>
              <a:path h="5538444" w="8322799">
                <a:moveTo>
                  <a:pt x="0" y="0"/>
                </a:moveTo>
                <a:lnTo>
                  <a:pt x="8322799" y="0"/>
                </a:lnTo>
                <a:lnTo>
                  <a:pt x="8322799" y="5538444"/>
                </a:lnTo>
                <a:lnTo>
                  <a:pt x="0" y="5538444"/>
                </a:lnTo>
                <a:lnTo>
                  <a:pt x="0" y="0"/>
                </a:lnTo>
                <a:close/>
              </a:path>
            </a:pathLst>
          </a:custGeom>
          <a:blipFill>
            <a:blip r:embed="rId2"/>
            <a:stretch>
              <a:fillRect l="0" t="0" r="0" b="0"/>
            </a:stretch>
          </a:blipFill>
        </p:spPr>
      </p:sp>
      <p:sp>
        <p:nvSpPr>
          <p:cNvPr name="TextBox 3" id="3"/>
          <p:cNvSpPr txBox="true"/>
          <p:nvPr/>
        </p:nvSpPr>
        <p:spPr>
          <a:xfrm rot="0">
            <a:off x="8322799" y="7045919"/>
            <a:ext cx="9965201" cy="3437495"/>
          </a:xfrm>
          <a:prstGeom prst="rect">
            <a:avLst/>
          </a:prstGeom>
        </p:spPr>
        <p:txBody>
          <a:bodyPr anchor="t" rtlCol="false" tIns="0" lIns="0" bIns="0" rIns="0">
            <a:spAutoFit/>
          </a:bodyPr>
          <a:lstStyle/>
          <a:p>
            <a:pPr algn="ctr">
              <a:lnSpc>
                <a:spcPts val="5490"/>
              </a:lnSpc>
            </a:pPr>
            <a:r>
              <a:rPr lang="en-US" sz="3921">
                <a:solidFill>
                  <a:srgbClr val="000000"/>
                </a:solidFill>
                <a:latin typeface="Noto Sans"/>
                <a:ea typeface="Noto Sans"/>
                <a:cs typeface="Noto Sans"/>
                <a:sym typeface="Noto Sans"/>
              </a:rPr>
              <a:t>cột trụ là một khối tròn dựng bằng 2 cột đá chồng lên nhau. Một phần chìm dưới hồ và p</a:t>
            </a:r>
            <a:r>
              <a:rPr lang="en-US" sz="3921">
                <a:solidFill>
                  <a:srgbClr val="000000"/>
                </a:solidFill>
                <a:latin typeface="Noto Sans"/>
                <a:ea typeface="Noto Sans"/>
                <a:cs typeface="Noto Sans"/>
                <a:sym typeface="Noto Sans"/>
              </a:rPr>
              <a:t>hần nổi trên mặt nước cao tới 4m. Cột có đường kính rộng 1,2m vô cùng vững chắc. </a:t>
            </a:r>
          </a:p>
        </p:txBody>
      </p:sp>
      <p:sp>
        <p:nvSpPr>
          <p:cNvPr name="TextBox 4" id="4"/>
          <p:cNvSpPr txBox="true"/>
          <p:nvPr/>
        </p:nvSpPr>
        <p:spPr>
          <a:xfrm rot="0">
            <a:off x="9009129" y="923925"/>
            <a:ext cx="9278871" cy="987582"/>
          </a:xfrm>
          <a:prstGeom prst="rect">
            <a:avLst/>
          </a:prstGeom>
        </p:spPr>
        <p:txBody>
          <a:bodyPr anchor="t" rtlCol="false" tIns="0" lIns="0" bIns="0" rIns="0">
            <a:spAutoFit/>
          </a:bodyPr>
          <a:lstStyle/>
          <a:p>
            <a:pPr algn="ctr">
              <a:lnSpc>
                <a:spcPts val="8116"/>
              </a:lnSpc>
            </a:pPr>
            <a:r>
              <a:rPr lang="en-US" sz="5797">
                <a:solidFill>
                  <a:srgbClr val="000000"/>
                </a:solidFill>
                <a:latin typeface="Sedgwick Ave"/>
                <a:ea typeface="Sedgwick Ave"/>
                <a:cs typeface="Sedgwick Ave"/>
                <a:sym typeface="Sedgwick Ave"/>
              </a:rPr>
              <a:t>cột chùa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1140586" cy="5941646"/>
          </a:xfrm>
          <a:custGeom>
            <a:avLst/>
            <a:gdLst/>
            <a:ahLst/>
            <a:cxnLst/>
            <a:rect r="r" b="b" t="t" l="l"/>
            <a:pathLst>
              <a:path h="5941646" w="11140586">
                <a:moveTo>
                  <a:pt x="0" y="0"/>
                </a:moveTo>
                <a:lnTo>
                  <a:pt x="11140586" y="0"/>
                </a:lnTo>
                <a:lnTo>
                  <a:pt x="11140586" y="5941646"/>
                </a:lnTo>
                <a:lnTo>
                  <a:pt x="0" y="5941646"/>
                </a:lnTo>
                <a:lnTo>
                  <a:pt x="0" y="0"/>
                </a:lnTo>
                <a:close/>
              </a:path>
            </a:pathLst>
          </a:custGeom>
          <a:blipFill>
            <a:blip r:embed="rId2"/>
            <a:stretch>
              <a:fillRect l="0" t="0" r="0" b="0"/>
            </a:stretch>
          </a:blipFill>
        </p:spPr>
      </p:sp>
      <p:sp>
        <p:nvSpPr>
          <p:cNvPr name="TextBox 3" id="3"/>
          <p:cNvSpPr txBox="true"/>
          <p:nvPr/>
        </p:nvSpPr>
        <p:spPr>
          <a:xfrm rot="0">
            <a:off x="417380" y="6145779"/>
            <a:ext cx="7659291" cy="887095"/>
          </a:xfrm>
          <a:prstGeom prst="rect">
            <a:avLst/>
          </a:prstGeom>
        </p:spPr>
        <p:txBody>
          <a:bodyPr anchor="t" rtlCol="false" tIns="0" lIns="0" bIns="0" rIns="0">
            <a:spAutoFit/>
          </a:bodyPr>
          <a:lstStyle/>
          <a:p>
            <a:pPr algn="ctr">
              <a:lnSpc>
                <a:spcPts val="7279"/>
              </a:lnSpc>
            </a:pPr>
            <a:r>
              <a:rPr lang="en-US" sz="5199">
                <a:solidFill>
                  <a:srgbClr val="000000"/>
                </a:solidFill>
                <a:latin typeface="Sedgwick Ave"/>
                <a:ea typeface="Sedgwick Ave"/>
                <a:cs typeface="Sedgwick Ave"/>
                <a:sym typeface="Sedgwick Ave"/>
              </a:rPr>
              <a:t>Lịch sử chùa một cột</a:t>
            </a:r>
          </a:p>
        </p:txBody>
      </p:sp>
      <p:sp>
        <p:nvSpPr>
          <p:cNvPr name="TextBox 4" id="4"/>
          <p:cNvSpPr txBox="true"/>
          <p:nvPr/>
        </p:nvSpPr>
        <p:spPr>
          <a:xfrm rot="0">
            <a:off x="8241229" y="6427430"/>
            <a:ext cx="10046771" cy="3859570"/>
          </a:xfrm>
          <a:prstGeom prst="rect">
            <a:avLst/>
          </a:prstGeom>
        </p:spPr>
        <p:txBody>
          <a:bodyPr anchor="t" rtlCol="false" tIns="0" lIns="0" bIns="0" rIns="0">
            <a:spAutoFit/>
          </a:bodyPr>
          <a:lstStyle/>
          <a:p>
            <a:pPr algn="ctr">
              <a:lnSpc>
                <a:spcPts val="2773"/>
              </a:lnSpc>
              <a:spcBef>
                <a:spcPct val="0"/>
              </a:spcBef>
            </a:pPr>
            <a:r>
              <a:rPr lang="en-US" b="true" sz="1981">
                <a:solidFill>
                  <a:srgbClr val="000000"/>
                </a:solidFill>
                <a:latin typeface="Noto Sans Bold"/>
                <a:ea typeface="Noto Sans Bold"/>
                <a:cs typeface="Noto Sans Bold"/>
                <a:sym typeface="Noto Sans Bold"/>
              </a:rPr>
              <a:t>Chùa Một Cột được biết đến với rất nhiều tên gọi khác nhau như Diên Hựu Tự, Liên Hoa Đài hay chùa Mật. Đây là một trong số những ngôi chùa Hà Nội cổ kính được xây dựng từ thời vua Lý Thái Tông.</a:t>
            </a:r>
          </a:p>
          <a:p>
            <a:pPr algn="ctr">
              <a:lnSpc>
                <a:spcPts val="2773"/>
              </a:lnSpc>
              <a:spcBef>
                <a:spcPct val="0"/>
              </a:spcBef>
            </a:pPr>
            <a:r>
              <a:rPr lang="en-US" b="true" sz="1981">
                <a:solidFill>
                  <a:srgbClr val="000000"/>
                </a:solidFill>
                <a:latin typeface="Noto Sans Bold"/>
                <a:ea typeface="Noto Sans Bold"/>
                <a:cs typeface="Noto Sans Bold"/>
                <a:sym typeface="Noto Sans Bold"/>
              </a:rPr>
              <a:t>Truyền thuyết kể lại rằng, sự tích chùa Một Cột gắn liền với giấc mộng của vua Lý Thái Tông. Năm 1049, nhà vua mơ thấy được Phật Bà Quan Âm ban cho một tòa sen ngời sáng. Khi thức dậy, vua đã kể lại giấc mộng kỳ bí cho các quân thần cùng nghe. Sau đó, nhà sư Thiền Tuệ đã khuyên vua xây dựng chùa để ghi nhớ công ơn, ân đức lớn lao của Quan Âm. Như trong giấc chiêm bao, chùa dựng cột gỗ lim, làm toà sen của Phật Bà Quan Âm đặt trên cột. Sau đó các nhà sư đi vòng quanh tụng kinh với mong muốn “phước lành dài lâu", vì vậy mà chùa có tên là Diên Hựu.</a:t>
            </a:r>
          </a:p>
        </p:txBody>
      </p:sp>
      <p:sp>
        <p:nvSpPr>
          <p:cNvPr name="TextBox 5" id="5"/>
          <p:cNvSpPr txBox="true"/>
          <p:nvPr/>
        </p:nvSpPr>
        <p:spPr>
          <a:xfrm rot="0">
            <a:off x="13027660" y="1131228"/>
            <a:ext cx="3522420" cy="2252591"/>
          </a:xfrm>
          <a:prstGeom prst="rect">
            <a:avLst/>
          </a:prstGeom>
        </p:spPr>
        <p:txBody>
          <a:bodyPr anchor="t" rtlCol="false" tIns="0" lIns="0" bIns="0" rIns="0">
            <a:spAutoFit/>
          </a:bodyPr>
          <a:lstStyle/>
          <a:p>
            <a:pPr algn="ctr">
              <a:lnSpc>
                <a:spcPts val="9032"/>
              </a:lnSpc>
            </a:pPr>
            <a:r>
              <a:rPr lang="en-US" sz="6451">
                <a:solidFill>
                  <a:srgbClr val="000000"/>
                </a:solidFill>
                <a:latin typeface="Sedgwick Ave"/>
                <a:ea typeface="Sedgwick Ave"/>
                <a:cs typeface="Sedgwick Ave"/>
                <a:sym typeface="Sedgwick Ave"/>
              </a:rPr>
              <a:t>Xây dựng </a:t>
            </a:r>
          </a:p>
          <a:p>
            <a:pPr algn="ctr">
              <a:lnSpc>
                <a:spcPts val="903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8180362" cy="5955304"/>
          </a:xfrm>
          <a:custGeom>
            <a:avLst/>
            <a:gdLst/>
            <a:ahLst/>
            <a:cxnLst/>
            <a:rect r="r" b="b" t="t" l="l"/>
            <a:pathLst>
              <a:path h="5955304" w="8180362">
                <a:moveTo>
                  <a:pt x="0" y="0"/>
                </a:moveTo>
                <a:lnTo>
                  <a:pt x="8180362" y="0"/>
                </a:lnTo>
                <a:lnTo>
                  <a:pt x="8180362" y="5955304"/>
                </a:lnTo>
                <a:lnTo>
                  <a:pt x="0" y="5955304"/>
                </a:lnTo>
                <a:lnTo>
                  <a:pt x="0" y="0"/>
                </a:lnTo>
                <a:close/>
              </a:path>
            </a:pathLst>
          </a:custGeom>
          <a:blipFill>
            <a:blip r:embed="rId2"/>
            <a:stretch>
              <a:fillRect l="0" t="0" r="0" b="0"/>
            </a:stretch>
          </a:blipFill>
        </p:spPr>
      </p:sp>
      <p:sp>
        <p:nvSpPr>
          <p:cNvPr name="TextBox 3" id="3"/>
          <p:cNvSpPr txBox="true"/>
          <p:nvPr/>
        </p:nvSpPr>
        <p:spPr>
          <a:xfrm rot="0">
            <a:off x="296031" y="5860054"/>
            <a:ext cx="9833874" cy="887095"/>
          </a:xfrm>
          <a:prstGeom prst="rect">
            <a:avLst/>
          </a:prstGeom>
        </p:spPr>
        <p:txBody>
          <a:bodyPr anchor="t" rtlCol="false" tIns="0" lIns="0" bIns="0" rIns="0">
            <a:spAutoFit/>
          </a:bodyPr>
          <a:lstStyle/>
          <a:p>
            <a:pPr algn="ctr">
              <a:lnSpc>
                <a:spcPts val="7279"/>
              </a:lnSpc>
            </a:pPr>
          </a:p>
        </p:txBody>
      </p:sp>
      <p:sp>
        <p:nvSpPr>
          <p:cNvPr name="TextBox 4" id="4"/>
          <p:cNvSpPr txBox="true"/>
          <p:nvPr/>
        </p:nvSpPr>
        <p:spPr>
          <a:xfrm rot="0">
            <a:off x="7710892" y="7296676"/>
            <a:ext cx="10356562" cy="2820126"/>
          </a:xfrm>
          <a:prstGeom prst="rect">
            <a:avLst/>
          </a:prstGeom>
        </p:spPr>
        <p:txBody>
          <a:bodyPr anchor="t" rtlCol="false" tIns="0" lIns="0" bIns="0" rIns="0">
            <a:spAutoFit/>
          </a:bodyPr>
          <a:lstStyle/>
          <a:p>
            <a:pPr algn="ctr">
              <a:lnSpc>
                <a:spcPts val="5624"/>
              </a:lnSpc>
            </a:pPr>
            <a:r>
              <a:rPr lang="en-US" sz="4017">
                <a:solidFill>
                  <a:srgbClr val="000000"/>
                </a:solidFill>
                <a:latin typeface="Noto Sans"/>
                <a:ea typeface="Noto Sans"/>
                <a:cs typeface="Noto Sans"/>
                <a:sym typeface="Noto Sans"/>
              </a:rPr>
              <a:t>Trải qua chiều dài lịch sử , các cuộc tấn công . Nhất là năm 1954, sau khi viễn  chinh Pháp rút khỏi Hà Nội đã cho đặt mìn để phá chùa Một Cột</a:t>
            </a:r>
          </a:p>
        </p:txBody>
      </p:sp>
      <p:sp>
        <p:nvSpPr>
          <p:cNvPr name="TextBox 5" id="5"/>
          <p:cNvSpPr txBox="true"/>
          <p:nvPr/>
        </p:nvSpPr>
        <p:spPr>
          <a:xfrm rot="0">
            <a:off x="10396935" y="501400"/>
            <a:ext cx="6398611" cy="1408667"/>
          </a:xfrm>
          <a:prstGeom prst="rect">
            <a:avLst/>
          </a:prstGeom>
        </p:spPr>
        <p:txBody>
          <a:bodyPr anchor="t" rtlCol="false" tIns="0" lIns="0" bIns="0" rIns="0">
            <a:spAutoFit/>
          </a:bodyPr>
          <a:lstStyle/>
          <a:p>
            <a:pPr algn="ctr">
              <a:lnSpc>
                <a:spcPts val="11516"/>
              </a:lnSpc>
            </a:pPr>
            <a:r>
              <a:rPr lang="en-US" sz="8225">
                <a:solidFill>
                  <a:srgbClr val="000000"/>
                </a:solidFill>
                <a:latin typeface="Dancing Script"/>
                <a:ea typeface="Dancing Script"/>
                <a:cs typeface="Dancing Script"/>
                <a:sym typeface="Dancing Script"/>
              </a:rPr>
              <a:t>Chùa bị phá hủy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7354" y="0"/>
            <a:ext cx="10180903" cy="5715047"/>
          </a:xfrm>
          <a:custGeom>
            <a:avLst/>
            <a:gdLst/>
            <a:ahLst/>
            <a:cxnLst/>
            <a:rect r="r" b="b" t="t" l="l"/>
            <a:pathLst>
              <a:path h="5715047" w="10180903">
                <a:moveTo>
                  <a:pt x="0" y="0"/>
                </a:moveTo>
                <a:lnTo>
                  <a:pt x="10180903" y="0"/>
                </a:lnTo>
                <a:lnTo>
                  <a:pt x="10180903" y="5715047"/>
                </a:lnTo>
                <a:lnTo>
                  <a:pt x="0" y="5715047"/>
                </a:lnTo>
                <a:lnTo>
                  <a:pt x="0" y="0"/>
                </a:lnTo>
                <a:close/>
              </a:path>
            </a:pathLst>
          </a:custGeom>
          <a:blipFill>
            <a:blip r:embed="rId2"/>
            <a:stretch>
              <a:fillRect l="0" t="0" r="0" b="0"/>
            </a:stretch>
          </a:blipFill>
        </p:spPr>
      </p:sp>
      <p:sp>
        <p:nvSpPr>
          <p:cNvPr name="TextBox 3" id="3"/>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4" id="4"/>
          <p:cNvSpPr txBox="true"/>
          <p:nvPr/>
        </p:nvSpPr>
        <p:spPr>
          <a:xfrm rot="0">
            <a:off x="9420320" y="6624232"/>
            <a:ext cx="8201611" cy="3473136"/>
          </a:xfrm>
          <a:prstGeom prst="rect">
            <a:avLst/>
          </a:prstGeom>
        </p:spPr>
        <p:txBody>
          <a:bodyPr anchor="t" rtlCol="false" tIns="0" lIns="0" bIns="0" rIns="0">
            <a:spAutoFit/>
          </a:bodyPr>
          <a:lstStyle/>
          <a:p>
            <a:pPr algn="ctr">
              <a:lnSpc>
                <a:spcPts val="5548"/>
              </a:lnSpc>
            </a:pPr>
            <a:r>
              <a:rPr lang="en-US" sz="3963">
                <a:solidFill>
                  <a:srgbClr val="000000"/>
                </a:solidFill>
                <a:latin typeface="Noto Sans"/>
                <a:ea typeface="Noto Sans"/>
                <a:cs typeface="Noto Sans"/>
                <a:sym typeface="Noto Sans"/>
              </a:rPr>
              <a:t>Năm 1955, sau khi chiến thắng và tiếp quản thủ đô</a:t>
            </a:r>
            <a:r>
              <a:rPr lang="en-US" sz="3963">
                <a:solidFill>
                  <a:srgbClr val="000000"/>
                </a:solidFill>
                <a:latin typeface="Noto Sans"/>
                <a:ea typeface="Noto Sans"/>
                <a:cs typeface="Noto Sans"/>
                <a:sym typeface="Noto Sans"/>
              </a:rPr>
              <a:t>Bộ Văn hóa Việt Nam Dân chủ Cộng hòa đã nghiên cứu đại trùng tu, xây dựng lại Chùa như kiến trúc ban đầu</a:t>
            </a:r>
          </a:p>
        </p:txBody>
      </p:sp>
      <p:sp>
        <p:nvSpPr>
          <p:cNvPr name="TextBox 5" id="5"/>
          <p:cNvSpPr txBox="true"/>
          <p:nvPr/>
        </p:nvSpPr>
        <p:spPr>
          <a:xfrm rot="0">
            <a:off x="11100789" y="1258969"/>
            <a:ext cx="6521141" cy="1375895"/>
          </a:xfrm>
          <a:prstGeom prst="rect">
            <a:avLst/>
          </a:prstGeom>
        </p:spPr>
        <p:txBody>
          <a:bodyPr anchor="t" rtlCol="false" tIns="0" lIns="0" bIns="0" rIns="0">
            <a:spAutoFit/>
          </a:bodyPr>
          <a:lstStyle/>
          <a:p>
            <a:pPr algn="ctr">
              <a:lnSpc>
                <a:spcPts val="11264"/>
              </a:lnSpc>
            </a:pPr>
            <a:r>
              <a:rPr lang="en-US" sz="8046">
                <a:solidFill>
                  <a:srgbClr val="000000"/>
                </a:solidFill>
                <a:latin typeface="Dancing Script"/>
                <a:ea typeface="Dancing Script"/>
                <a:cs typeface="Dancing Script"/>
                <a:sym typeface="Dancing Script"/>
              </a:rPr>
              <a:t>Được trùng tu lại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091589" y="10090589"/>
            <a:ext cx="196411" cy="196411"/>
          </a:xfrm>
          <a:custGeom>
            <a:avLst/>
            <a:gdLst/>
            <a:ahLst/>
            <a:cxnLst/>
            <a:rect r="r" b="b" t="t" l="l"/>
            <a:pathLst>
              <a:path h="196411" w="196411">
                <a:moveTo>
                  <a:pt x="0" y="0"/>
                </a:moveTo>
                <a:lnTo>
                  <a:pt x="196411" y="0"/>
                </a:lnTo>
                <a:lnTo>
                  <a:pt x="196411" y="196411"/>
                </a:lnTo>
                <a:lnTo>
                  <a:pt x="0" y="196411"/>
                </a:lnTo>
                <a:lnTo>
                  <a:pt x="0" y="0"/>
                </a:lnTo>
                <a:close/>
              </a:path>
            </a:pathLst>
          </a:custGeom>
          <a:blipFill>
            <a:blip r:embed="rId2"/>
            <a:stretch>
              <a:fillRect l="0" t="0" r="0" b="0"/>
            </a:stretch>
          </a:blipFill>
        </p:spPr>
      </p:sp>
      <p:sp>
        <p:nvSpPr>
          <p:cNvPr name="TextBox 3" id="3"/>
          <p:cNvSpPr txBox="true"/>
          <p:nvPr/>
        </p:nvSpPr>
        <p:spPr>
          <a:xfrm rot="0">
            <a:off x="5999915" y="733425"/>
            <a:ext cx="6775627" cy="7984730"/>
          </a:xfrm>
          <a:prstGeom prst="rect">
            <a:avLst/>
          </a:prstGeom>
        </p:spPr>
        <p:txBody>
          <a:bodyPr anchor="t" rtlCol="false" tIns="0" lIns="0" bIns="0" rIns="0">
            <a:spAutoFit/>
          </a:bodyPr>
          <a:lstStyle/>
          <a:p>
            <a:pPr algn="ctr">
              <a:lnSpc>
                <a:spcPts val="21242"/>
              </a:lnSpc>
            </a:pPr>
            <a:r>
              <a:rPr lang="en-US" b="true" sz="15172">
                <a:solidFill>
                  <a:srgbClr val="FF751F"/>
                </a:solidFill>
                <a:latin typeface="Dancing Script Bold"/>
                <a:ea typeface="Dancing Script Bold"/>
                <a:cs typeface="Dancing Script Bold"/>
                <a:sym typeface="Dancing Script Bold"/>
              </a:rPr>
              <a:t>CẢM ƠN ĐÃ XEM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DAG_PU6IodI</dc:identifier>
  <dcterms:modified xsi:type="dcterms:W3CDTF">2011-08-01T06:04:30Z</dcterms:modified>
  <cp:revision>1</cp:revision>
  <dc:title>Chùa Một Cột được xây dựng dưới thời vua Lý Thái Tông, cụ thể là tháng 10 (Âm lịch) năm 1049. Theo truyền thuyết dân gian, trong một giấc mơ vua Lý Thái Tông đã mơ thấy Phật Bà Quan Âm tọa trên đài sen, sau đó Phật Bà mời nhà vua lên cùng. Tỉnh giấc vua</dc:title>
</cp:coreProperties>
</file>